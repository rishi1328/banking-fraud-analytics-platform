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Fraud rate varies 3x across branches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Ahmedabad</c:v>
                  </c:pt>
                  <c:pt idx="1">
                    <c:v>Hyderabad</c:v>
                  </c:pt>
                  <c:pt idx="2">
                    <c:v>Bengaluru</c:v>
                  </c:pt>
                  <c:pt idx="3">
                    <c:v>Pune</c:v>
                  </c:pt>
                  <c:pt idx="4">
                    <c:v>Mumbai</c:v>
                  </c:pt>
                  <c:pt idx="5">
                    <c:v>Kolkata</c:v>
                  </c:pt>
                  <c:pt idx="6">
                    <c:v>Chennai</c:v>
                  </c:pt>
                  <c:pt idx="7">
                    <c:v>Delhi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0.23</c:v>
                </c:pt>
                <c:pt idx="1">
                  <c:v>0.2</c:v>
                </c:pt>
                <c:pt idx="2">
                  <c:v>0.19</c:v>
                </c:pt>
                <c:pt idx="3">
                  <c:v>0.19</c:v>
                </c:pt>
                <c:pt idx="4">
                  <c:v>0.16</c:v>
                </c:pt>
                <c:pt idx="5">
                  <c:v>0.14</c:v>
                </c:pt>
                <c:pt idx="6">
                  <c:v>0.12</c:v>
                </c:pt>
                <c:pt idx="7">
                  <c:v>0.08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29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Customer segmentation (500 customers)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Standard (451)</c:v>
                </c:pt>
                <c:pt idx="1">
                  <c:v>Premium (36)</c:v>
                </c:pt>
                <c:pt idx="2">
                  <c:v>At-Risk (13)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451</c:v>
                </c:pt>
                <c:pt idx="1">
                  <c:v>36</c:v>
                </c:pt>
                <c:pt idx="2">
                  <c:v>13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429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analytics platform for a simulated retail bank: requirements to dashboards in 11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pain points from the Business Understanding phase, drawn from the as-is process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overview. Fraud detection highlighted as the heart of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explainable and auditable; thresholds are explicit and tunable. Detection rate measured against seeded ground truth from the data generation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directly from the KPI views and dashboard: fraud % by branch and customer segmentation.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detail and success metrics for each recommendation are in the Business Recommendations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three capability pillars and the headline numbers. Repo link goes in the footer when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Transaction Monitoring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Fraud Analytics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fraud handling to proactive, explainable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Bank (simulated)  ·  MySQL  ·  Python  ·  Power BI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 ·  Business Analyst Portfolio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Retail Bank was flying blind on fraud and reporting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12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fraud handling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04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was discovered only after customer complaints — days or weeks after the loss.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127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metrics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93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computed “active customers” and “fraud rate” differently; leadership saw conflicting numbers.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4897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315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data-quality issues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681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records entered systems unchecked, eroding trust in every downstream report.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678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504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reporting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8704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executive reports were assembled by hand from raw extracts.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An End-to-End Analytics Platform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phases, delivered sequentially with sign-off gates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700784" cy="2103120"/>
          </a:xfrm>
          <a:prstGeom prst="roundRect">
            <a:avLst>
              <a:gd name="adj" fmla="val 4301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37413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FRS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05456" y="2148840"/>
            <a:ext cx="1700784" cy="2103120"/>
          </a:xfrm>
          <a:prstGeom prst="roundRect">
            <a:avLst>
              <a:gd name="adj" fmla="val 4301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3127248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1272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78608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78608" y="337413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OLTP schema,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simulator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51376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70832" y="2148840"/>
            <a:ext cx="1700784" cy="2103120"/>
          </a:xfrm>
          <a:prstGeom prst="roundRect">
            <a:avLst>
              <a:gd name="adj" fmla="val 4301"/>
            </a:avLst>
          </a:prstGeom>
          <a:solidFill>
            <a:srgbClr val="F4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992624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992624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43984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Quality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43984" y="337413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validation rules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16752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6208" y="2148840"/>
            <a:ext cx="1700784" cy="2103120"/>
          </a:xfrm>
          <a:prstGeom prst="roundRect">
            <a:avLst>
              <a:gd name="adj" fmla="val 4301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23500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09360" y="337413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explainable rules,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Python, scored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82128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1584" y="2148840"/>
            <a:ext cx="1700784" cy="2103120"/>
          </a:xfrm>
          <a:prstGeom prst="roundRect">
            <a:avLst>
              <a:gd name="adj" fmla="val 4301"/>
            </a:avLst>
          </a:prstGeom>
          <a:solidFill>
            <a:srgbClr val="F4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723376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723376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74736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KPIs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174736" y="337413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KPI views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47504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66960" y="2148840"/>
            <a:ext cx="1700784" cy="2103120"/>
          </a:xfrm>
          <a:prstGeom prst="roundRect">
            <a:avLst>
              <a:gd name="adj" fmla="val 4301"/>
            </a:avLst>
          </a:prstGeom>
          <a:solidFill>
            <a:srgbClr val="F4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88752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58875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40112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0040112" y="337413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 audiences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produced reviewable deliverables: documents, SQL, notebooks, and READMEs — mirroring consulting delivery discipline.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5440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1463040" y="6263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09160" y="5440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4709160" y="6263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files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55280" y="5440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7955280" y="6263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tools: SQL · Python · Power BI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Fraud Detection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rules, every alert with a stated reason — the standard regulated banks require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406640" cy="786384"/>
          </a:xfrm>
          <a:prstGeom prst="roundRect">
            <a:avLst>
              <a:gd name="adj" fmla="val 8140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1947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27685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5 transactions on one account within 2 minutes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209397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0939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7406640" cy="786384"/>
          </a:xfrm>
          <a:prstGeom prst="roundRect">
            <a:avLst>
              <a:gd name="adj" fmla="val 8140"/>
            </a:avLst>
          </a:prstGeom>
          <a:solidFill>
            <a:srgbClr val="F4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953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2862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Anomaly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81328" y="319125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above 8× the account's own average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3720" y="300837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0083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7406640" cy="786384"/>
          </a:xfrm>
          <a:prstGeom prst="roundRect">
            <a:avLst>
              <a:gd name="adj" fmla="val 8140"/>
            </a:avLst>
          </a:prstGeom>
          <a:solidFill>
            <a:srgbClr val="F4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867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1328" y="3776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Travel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81328" y="410565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account in two cities within 60 minutes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392277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9227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7406640" cy="786384"/>
          </a:xfrm>
          <a:prstGeom prst="roundRect">
            <a:avLst>
              <a:gd name="adj" fmla="val 8140"/>
            </a:avLst>
          </a:prstGeom>
          <a:solidFill>
            <a:srgbClr val="F4F7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47823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81328" y="4690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High-Value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81328" y="502005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amounts between 00:00 and 05:00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03720" y="483717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48371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532120"/>
            <a:ext cx="7406640" cy="786384"/>
          </a:xfrm>
          <a:prstGeom prst="roundRect">
            <a:avLst>
              <a:gd name="adj" fmla="val 8140"/>
            </a:avLst>
          </a:prstGeom>
          <a:solidFill>
            <a:srgbClr val="F4F7FC"/>
          </a:solidFill>
          <a:ln/>
        </p:spPr>
      </p:sp>
      <p:sp>
        <p:nvSpPr>
          <p:cNvPr id="33" name="Shape 31"/>
          <p:cNvSpPr/>
          <p:nvPr/>
        </p:nvSpPr>
        <p:spPr>
          <a:xfrm>
            <a:off x="868680" y="56967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81328" y="5605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Testing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481328" y="593445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failed attempts immediately before a success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03720" y="575157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57515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21040" y="1874520"/>
            <a:ext cx="3200400" cy="4443984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5496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twice, on purpose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549640" y="2606040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window functions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views inside the database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alerts, tunable thresholds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vs ground truth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measured against seeded fraud cases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309360" y="137160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 spread in branch fraud rates argues for branch-differentiated thresholds  ·  13 identifiable At-Risk customers are a ready-made retention campaign  ·  ~6% of transactions fail — a silent revenue leak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prioritized actions — each measurable with KPIs the platform already computes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19842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fraud response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202082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0208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89888" y="2377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high-risk alerts to immediate review with SLAs; tune thresholds quarterly.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8745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693408" y="20574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69340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42048" y="19842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thresholds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744200" y="202082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20208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42048" y="2377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tighter rules at the two highest-fraud branches for one quarter.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36118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89888" y="3538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root-cause program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3575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575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89888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~6% failure rate down by channel and fix the top two causes.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3429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693408" y="36118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42048" y="3538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retention outreach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744200" y="3575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10744200" y="3575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42048" y="3931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13 identifiable At-Risk customers before they churn.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9834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33" name="Shape 31"/>
          <p:cNvSpPr/>
          <p:nvPr/>
        </p:nvSpPr>
        <p:spPr>
          <a:xfrm>
            <a:off x="841248" y="5166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89888" y="5093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Premium segment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92040" y="512978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51297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89888" y="5486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high-CLV Standard customers with premium product offers.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92240" y="49834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693408" y="5166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693408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42048" y="5093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&amp; extend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744200" y="512978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/>
        </p:spPr>
      </p:sp>
      <p:sp>
        <p:nvSpPr>
          <p:cNvPr id="44" name="Text 42"/>
          <p:cNvSpPr/>
          <p:nvPr/>
        </p:nvSpPr>
        <p:spPr>
          <a:xfrm>
            <a:off x="10744200" y="51297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42048" y="5486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daily ETL + detection; trial ML alongside the explainable rules.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48056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&amp; FRS with traceability  ·  KPI dictionary  ·  stakeholder mapping  ·  prioritized recommendations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377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OLTP schema  ·  ETL with 9 quality rules  ·  star-schema warehouse  ·  governed KPI views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fraud rules in SQL &amp; Python  ·  detection scored vs ground truth  ·  4-page Power BI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28016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simulated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93192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monitored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8368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typologies detected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Python (pandas, Faker)  ·  Power BI  ·  Mermaid  ·  GitHub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2026-07-11T21:04:08Z</dcterms:created>
  <dcterms:modified xsi:type="dcterms:W3CDTF">2026-07-11T21:04:08Z</dcterms:modified>
</cp:coreProperties>
</file>